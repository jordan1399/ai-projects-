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2743200"/>
            <a:ext cx="1645920" cy="164592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Airline Loyalty Program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 Campaign Performance Dashboard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membership impact, demographic adoption, and flight activity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customer_loyalty_history.csv (2,067 members) | customer_flight_activity.csv (48,113 records)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KPI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answering the three core analysis questions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9202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07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New Members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 of total 2,067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97280"/>
            <a:ext cx="19202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07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Retained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901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eventually cancelled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97280"/>
            <a:ext cx="19202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07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+3.5pp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Demo Skew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901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Divorced &amp; Aurora over-index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0972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97280"/>
            <a:ext cx="19202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207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 vs 0.3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5800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Flights/Member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901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vs Standard avg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377440"/>
            <a:ext cx="85039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25146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6167"/>
                </a:solidFill>
              </a:rPr>
              <a:t>1. Campaign Impact (Gross/Net)</a:t>
            </a:r>
            <a:endParaRPr lang="en-US" sz="1200" dirty="0"/>
          </a:p>
          <a:p>
            <a:pPr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The 2018 Promotion ran Feb–Apr 2018 and enrolled 115 new members (5.6% gross boost). However, all 115 eventually cancelled — 104 of them (90%) churning in Q4 2018 alone. The net retention was zero.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C7293"/>
                </a:solidFill>
              </a:rPr>
              <a:t>2. Demographic Adoption</a:t>
            </a:r>
            <a:endParaRPr lang="en-US" sz="1200" dirty="0"/>
          </a:p>
          <a:p>
            <a:pPr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The campaign attracted members across all segments but over-indexed among Divorced (+3.5pp), Aurora tier (+3.7pp), College-educated (+2.5pp), and Male (+3.4pp) members relative to the standard base.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65A82"/>
                </a:solidFill>
              </a:rPr>
              <a:t>3. Summer Flight Impact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Promotion members averaged 8.2 flights/member over the summer vs 0.3 for Standard. However, with only 115 promo members, their total flights (2,824) exceeded Standard's (1,653) only due to dramatically higher per-member activity — not incremental program reach.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Impact on Memberships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enrollments vs net retention from the 2018 Promotion campaign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9202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61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Enrollments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Feb–Apr 2018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10515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51560"/>
            <a:ext cx="19202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161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Retained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cancelled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26280" y="10515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1051560"/>
            <a:ext cx="19202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161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177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2018 Churn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all cancellations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10515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1051560"/>
            <a:ext cx="19202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161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7.6 mo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cancellation</a:t>
            </a:r>
            <a:endParaRPr lang="en-US" sz="800" dirty="0"/>
          </a:p>
        </p:txBody>
      </p:sp>
      <p:pic>
        <p:nvPicPr>
          <p:cNvPr id="25" name="Image 0" descr="chart_enroll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148840"/>
            <a:ext cx="4937760" cy="2743200"/>
          </a:xfrm>
          <a:prstGeom prst="rect">
            <a:avLst/>
          </a:prstGeom>
        </p:spPr>
      </p:pic>
      <p:pic>
        <p:nvPicPr>
          <p:cNvPr id="26" name="Image 1" descr="chart_cancell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48840"/>
            <a:ext cx="3977640" cy="2743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28600" y="2011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Enrollments by Type (2017–2018)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983480" y="20116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Member Cancellation Timeline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 Adoption of the Campaign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% share of Promotion vs Standard members across demographics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0574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61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+3.5pp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Divorced Over-Index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 vs 13.9%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51560"/>
            <a:ext cx="20574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161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+3.7pp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Over-Index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8562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 vs 21.5%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92040" y="10515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051560"/>
            <a:ext cx="20574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161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+3.4pp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8348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Over-Index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18562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52.2% vs 48.8%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03720" y="10515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051560"/>
            <a:ext cx="19202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161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+2.5pp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9516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Over-Index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27.8% vs 25.4%</a:t>
            </a:r>
            <a:endParaRPr lang="en-US" sz="800" dirty="0"/>
          </a:p>
        </p:txBody>
      </p:sp>
      <p:pic>
        <p:nvPicPr>
          <p:cNvPr id="25" name="Image 0" descr="chart_demograph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57400"/>
            <a:ext cx="8503920" cy="2834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Flight Activity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campaign drive incremental flight bookings during peak summer travel?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6916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61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Avg Flights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member, Jun–Aug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05156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94560" y="1051560"/>
            <a:ext cx="16916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1161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8600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Avg Flights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8562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member, Jun–Aug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69080" y="105156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69080" y="1051560"/>
            <a:ext cx="16916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1161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2,824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6052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Total Flights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0520" y="18562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2018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0" y="105156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1051560"/>
            <a:ext cx="16916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161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1,653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3504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Total Flights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18562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2018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06640" y="105156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1051560"/>
            <a:ext cx="1417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11612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4.1M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98080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Distance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18562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miles</a:t>
            </a:r>
            <a:endParaRPr lang="en-US" sz="800" dirty="0"/>
          </a:p>
        </p:txBody>
      </p:sp>
      <p:pic>
        <p:nvPicPr>
          <p:cNvPr id="30" name="Image 0" descr="chart_summer_fl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148840"/>
            <a:ext cx="4754880" cy="26517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03520" y="2148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2018 Supporting Metrics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468880"/>
          <a:ext cx="3520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61288"/>
                <a:gridCol w="117043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Promotion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Standard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Members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</a:rPr>
                        <a:t>115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7293"/>
                          </a:solidFill>
                        </a:rPr>
                        <a:t>1,952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Total Flights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</a:rPr>
                        <a:t>2,824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7293"/>
                          </a:solidFill>
                        </a:rPr>
                        <a:t>1,653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Total Distance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</a:rPr>
                        <a:t>4,135,488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7293"/>
                          </a:solidFill>
                        </a:rPr>
                        <a:t>2,576,290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Avg Flights/Mo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</a:rPr>
                        <a:t>8.18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7293"/>
                          </a:solidFill>
                        </a:rPr>
                        <a:t>0.28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3" name="Shape 29"/>
          <p:cNvSpPr/>
          <p:nvPr/>
        </p:nvSpPr>
        <p:spPr>
          <a:xfrm>
            <a:off x="5303520" y="393192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FFF5F5"/>
          </a:solidFill>
          <a:ln/>
        </p:spPr>
      </p:sp>
      <p:sp>
        <p:nvSpPr>
          <p:cNvPr id="34" name="Text 30"/>
          <p:cNvSpPr/>
          <p:nvPr/>
        </p:nvSpPr>
        <p:spPr>
          <a:xfrm>
            <a:off x="5440680" y="3977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members flew 27x more per person than Standard members during summer — but with only 115 members, the total impact was limited in scale.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Lifetime Value &amp; Retention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CLV and membership duration between enrollment types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0574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61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$8,754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Mean CLV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Standard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51560"/>
            <a:ext cx="20574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161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$8,095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Mean CLV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8562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1,952 members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92040" y="105156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051560"/>
            <a:ext cx="20574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161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7.6 mo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8348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Avg Tenure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18562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memberships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95160" y="10515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1051560"/>
            <a:ext cx="18288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1612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16.4 mo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8660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Avg Tenure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1856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2.2x longer retention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21031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Comparison</a:t>
            </a:r>
            <a:endParaRPr lang="en-US" sz="1000" dirty="0"/>
          </a:p>
        </p:txBody>
      </p:sp>
      <p:pic>
        <p:nvPicPr>
          <p:cNvPr id="26" name="Image 0" descr="chart_cl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0"/>
            <a:ext cx="4114800" cy="2560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709160" y="21031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Tenure Comparison</a:t>
            </a:r>
            <a:endParaRPr lang="en-US" sz="1000" dirty="0"/>
          </a:p>
        </p:txBody>
      </p:sp>
      <p:pic>
        <p:nvPicPr>
          <p:cNvPr id="28" name="Image 1" descr="chart_ten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86000"/>
            <a:ext cx="4114800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and next steps for future loyalty campaigns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Zero Net Retention</a:t>
            </a:r>
            <a:endParaRPr lang="en-US" sz="1100" dirty="0"/>
          </a:p>
          <a:p>
            <a:pPr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generated 115 gross enrollments but retained none. All members cancelled, with 90% churning in Q4 2018. This signals a fundamental retention gap.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Demographic Skew Reveals Targeting Opportunity</a:t>
            </a:r>
            <a:endParaRPr lang="en-US" sz="1100" dirty="0"/>
          </a:p>
          <a:p>
            <a:pPr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Divorced members (+3.5pp), Aurora cardholders (+3.7pp), and Males (+3.4pp) over-indexed. Future campaigns can double down on these responsive segments.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 Activity, Low Scale Impact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members flew 27x more than Standard per person during summer — but with only 115 members, the campaign did not meaningfully boost total flight volume.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16052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97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Retention Programs</a:t>
            </a:r>
            <a:endParaRPr lang="en-US" sz="1100" dirty="0"/>
          </a:p>
          <a:p>
            <a:pPr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onboarding journeys, milestone rewards, and early-warning churn detection within the first 3 months of enrollment.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Targeting Strategy</a:t>
            </a:r>
            <a:endParaRPr lang="en-US" sz="1100" dirty="0"/>
          </a:p>
          <a:p>
            <a:pPr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acquisition efforts on the demographic segments that showed highest adoption rates: Divorced, Aurora-tier, and Male members.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Program</a:t>
            </a:r>
            <a:endParaRPr lang="en-US" sz="1100" dirty="0"/>
          </a:p>
          <a:p>
            <a:pPr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per-member flight activity (8.2 avg flights) suggests strong engagement when members stay. Expand the program with better incentives to reach a critical mass.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Incrementality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next campaign with a control group to measure true incremental value over the member lifecycle, not just acquisition counts.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232809-5394-4AA2-B0BD-B2F625851481}">
  <we:reference id="WA200010606" version="1.0.10036.0" store="en-us" storeType="OMEX"/>
  <we:alternateReferences/>
  <we:properties>
    <we:property name="Office.AutoShowTaskpaneWithDocument" value="true"/>
    <we:property name="conversationId" value="&quot;a86d2df0-e236-497f-b3b2-efd6d035cc3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Loyalty Program — 2018 Campaign Performance Dashboard</dc:title>
  <dc:subject>PptxGenJS Presentation</dc:subject>
  <dc:creator>Data Analytics Team</dc:creator>
  <cp:lastModifiedBy>Data Analytics Team</cp:lastModifiedBy>
  <cp:revision>1</cp:revision>
  <dcterms:created xsi:type="dcterms:W3CDTF">2026-09-18T16:11:15Z</dcterms:created>
  <dcterms:modified xsi:type="dcterms:W3CDTF">2026-09-18T16:11:15Z</dcterms:modified>
</cp:coreProperties>
</file>